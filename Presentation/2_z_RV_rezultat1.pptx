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6858000" cy="9144000"/>
  <p:embeddedFontLst>
    <p:embeddedFont>
      <p:font typeface="Secular One"/>
      <p:regular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Source Serif Pro"/>
      <p:regular r:id="rId23"/>
      <p:bold r:id="rId24"/>
      <p:italic r:id="rId25"/>
      <p:boldItalic r:id="rId26"/>
    </p:embeddedFont>
    <p:embeddedFont>
      <p:font typeface="Cabin"/>
      <p:regular r:id="rId27"/>
      <p:bold r:id="rId28"/>
      <p:italic r:id="rId29"/>
      <p:boldItalic r:id="rId30"/>
    </p:embeddedFont>
    <p:embeddedFont>
      <p:font typeface="Delius"/>
      <p:regular r:id="rId31"/>
    </p:embeddedFont>
    <p:embeddedFont>
      <p:font typeface="Montserrat Light"/>
      <p:regular r:id="rId32"/>
      <p:bold r:id="rId33"/>
      <p:italic r:id="rId34"/>
      <p:boldItalic r:id="rId35"/>
    </p:embeddedFont>
    <p:embeddedFont>
      <p:font typeface="Coda"/>
      <p:regular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Helvetica Neue Light"/>
      <p:regular r:id="rId41"/>
      <p:bold r:id="rId42"/>
      <p:italic r:id="rId43"/>
      <p:boldItalic r:id="rId44"/>
    </p:embeddedFont>
    <p:embeddedFont>
      <p:font typeface="DM Serif Display"/>
      <p:regular r:id="rId45"/>
      <p:italic r:id="rId46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6D0103-8D79-4251-A503-B0E165F9A677}">
  <a:tblStyle styleId="{F56D0103-8D79-4251-A503-B0E165F9A6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36" Type="http://schemas.openxmlformats.org/officeDocument/2006/relationships/font" Target="fonts/Coda-regular.fntdata" /><Relationship Id="rId38" Type="http://schemas.openxmlformats.org/officeDocument/2006/relationships/font" Target="fonts/HelveticaNeue-bold.fntdata" /><Relationship Id="rId37" Type="http://schemas.openxmlformats.org/officeDocument/2006/relationships/font" Target="fonts/HelveticaNeue-regular.fntdata" /><Relationship Id="rId40" Type="http://schemas.openxmlformats.org/officeDocument/2006/relationships/font" Target="fonts/HelveticaNeue-boldItalic.fntdata" /><Relationship Id="rId39" Type="http://schemas.openxmlformats.org/officeDocument/2006/relationships/font" Target="fonts/HelveticaNeue-italic.fntdata" /><Relationship Id="rId42" Type="http://schemas.openxmlformats.org/officeDocument/2006/relationships/font" Target="fonts/HelveticaNeueLight-bold.fntdata" /><Relationship Id="rId41" Type="http://schemas.openxmlformats.org/officeDocument/2006/relationships/font" Target="fonts/HelveticaNeueLight-regular.fntdata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44" Type="http://schemas.openxmlformats.org/officeDocument/2006/relationships/font" Target="fonts/HelveticaNeueLight-boldItalic.fntdata" /><Relationship Id="rId43" Type="http://schemas.openxmlformats.org/officeDocument/2006/relationships/font" Target="fonts/HelveticaNeueLight-italic.fntdata" /><Relationship Id="rId45" Type="http://schemas.openxmlformats.org/officeDocument/2006/relationships/font" Target="fonts/DMSerifDisplay-regular.fntdata" /><Relationship Id="rId27" Type="http://schemas.openxmlformats.org/officeDocument/2006/relationships/font" Target="fonts/Cabin-regular.fntdata" /><Relationship Id="rId26" Type="http://schemas.openxmlformats.org/officeDocument/2006/relationships/font" Target="fonts/SourceSerifPro-boldItalic.fntdata" /><Relationship Id="rId29" Type="http://schemas.openxmlformats.org/officeDocument/2006/relationships/font" Target="fonts/Cabin-italic.fntdata" /><Relationship Id="rId28" Type="http://schemas.openxmlformats.org/officeDocument/2006/relationships/font" Target="fonts/Cabin-bold.fntdata" /><Relationship Id="rId31" Type="http://schemas.openxmlformats.org/officeDocument/2006/relationships/font" Target="fonts/Delius-regular.fntdata" /><Relationship Id="rId30" Type="http://schemas.openxmlformats.org/officeDocument/2006/relationships/font" Target="fonts/Cabin-boldItalic.fntdata" /><Relationship Id="rId33" Type="http://schemas.openxmlformats.org/officeDocument/2006/relationships/font" Target="fonts/MontserratLight-bold.fntdata" /><Relationship Id="rId32" Type="http://schemas.openxmlformats.org/officeDocument/2006/relationships/font" Target="fonts/MontserratLight-regular.fntdata" /><Relationship Id="rId35" Type="http://schemas.openxmlformats.org/officeDocument/2006/relationships/font" Target="fonts/MontserratLight-boldItalic.fntdata" /><Relationship Id="rId34" Type="http://schemas.openxmlformats.org/officeDocument/2006/relationships/font" Target="fonts/MontserratLight-italic.fntdata" /><Relationship Id="rId18" Type="http://schemas.openxmlformats.org/officeDocument/2006/relationships/font" Target="fonts/SecularOne-regular.fntdata" /><Relationship Id="rId20" Type="http://schemas.openxmlformats.org/officeDocument/2006/relationships/font" Target="fonts/Roboto-bold.fntdata" /><Relationship Id="rId19" Type="http://schemas.openxmlformats.org/officeDocument/2006/relationships/font" Target="fonts/Roboto-regular.fntdata" /><Relationship Id="rId22" Type="http://schemas.openxmlformats.org/officeDocument/2006/relationships/font" Target="fonts/Roboto-boldItalic.fntdata" /><Relationship Id="rId21" Type="http://schemas.openxmlformats.org/officeDocument/2006/relationships/font" Target="fonts/Roboto-italic.fntdata" /><Relationship Id="rId24" Type="http://schemas.openxmlformats.org/officeDocument/2006/relationships/font" Target="fonts/SourceSerifPro-bold.fntdata" /><Relationship Id="rId23" Type="http://schemas.openxmlformats.org/officeDocument/2006/relationships/font" Target="fonts/SourceSerifPro-regular.fntdata" /><Relationship Id="rId25" Type="http://schemas.openxmlformats.org/officeDocument/2006/relationships/font" Target="fonts/SourceSerifPro-italic.fntdata" /><Relationship Id="rId46" Type="http://schemas.openxmlformats.org/officeDocument/2006/relationships/font" Target="fonts/DMSerifDisplay-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>
  <p:cSld name="TITLE_AND_BODY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427350" y="4461775"/>
            <a:ext cx="13542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5387025" y="727800"/>
            <a:ext cx="3091200" cy="36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318">
          <p15:clr>
            <a:srgbClr val="FA7B17"/>
          </p15:clr>
        </p15:guide>
        <p15:guide id="2" pos="5294">
          <p15:clr>
            <a:srgbClr val="FA7B17"/>
          </p15:clr>
        </p15:guide>
        <p15:guide id="3" orient="horz" pos="648">
          <p15:clr>
            <a:srgbClr val="FA7B17"/>
          </p15:clr>
        </p15:guide>
        <p15:guide id="4" orient="horz" pos="753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2048700" y="4576500"/>
            <a:ext cx="5046600" cy="78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49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hasCustomPrompt="1" type="title"/>
          </p:nvPr>
        </p:nvSpPr>
        <p:spPr>
          <a:xfrm>
            <a:off x="3172350" y="1273625"/>
            <a:ext cx="2799300" cy="17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2267525" y="3053450"/>
            <a:ext cx="44454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Montserrat Light"/>
              <a:buChar char="■"/>
              <a:defRPr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3427350" y="4461775"/>
            <a:ext cx="13542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ONE_COLUMN_TEX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67425" y="172825"/>
            <a:ext cx="23145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67425" y="1543050"/>
            <a:ext cx="2056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2902925" y="236850"/>
            <a:ext cx="5489100" cy="46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1200"/>
              <a:buChar char="●"/>
              <a:defRPr sz="1200">
                <a:solidFill>
                  <a:srgbClr val="1A1C20"/>
                </a:solidFill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1000"/>
              <a:buChar char="○"/>
              <a:defRPr>
                <a:solidFill>
                  <a:srgbClr val="1A1C20"/>
                </a:solidFill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1000"/>
              <a:buChar char="■"/>
              <a:defRPr>
                <a:solidFill>
                  <a:srgbClr val="1A1C20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●"/>
              <a:defRPr sz="900">
                <a:solidFill>
                  <a:srgbClr val="1A1C20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○"/>
              <a:defRPr sz="900">
                <a:solidFill>
                  <a:srgbClr val="1A1C20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■"/>
              <a:defRPr sz="900">
                <a:solidFill>
                  <a:srgbClr val="1A1C20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●"/>
              <a:defRPr sz="900">
                <a:solidFill>
                  <a:srgbClr val="1A1C20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○"/>
              <a:defRPr sz="900">
                <a:solidFill>
                  <a:srgbClr val="1A1C20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■"/>
              <a:defRPr sz="900">
                <a:solidFill>
                  <a:srgbClr val="1A1C2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812150" y="2183400"/>
            <a:ext cx="5519700" cy="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873600" y="4476900"/>
            <a:ext cx="551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2100" lvl="1" marL="914400" algn="r">
              <a:spcBef>
                <a:spcPts val="1600"/>
              </a:spcBef>
              <a:spcAft>
                <a:spcPts val="0"/>
              </a:spcAft>
              <a:buSzPts val="1000"/>
              <a:buFont typeface="Coda"/>
              <a:buChar char="○"/>
              <a:defRPr>
                <a:latin typeface="Coda"/>
                <a:ea typeface="Coda"/>
                <a:cs typeface="Coda"/>
                <a:sym typeface="Coda"/>
              </a:defRPr>
            </a:lvl2pPr>
            <a:lvl3pPr indent="-292100" lvl="2" marL="1371600" algn="r">
              <a:spcBef>
                <a:spcPts val="1600"/>
              </a:spcBef>
              <a:spcAft>
                <a:spcPts val="0"/>
              </a:spcAft>
              <a:buSzPts val="1000"/>
              <a:buFont typeface="Coda"/>
              <a:buChar char="■"/>
              <a:defRPr>
                <a:latin typeface="Coda"/>
                <a:ea typeface="Coda"/>
                <a:cs typeface="Coda"/>
                <a:sym typeface="Coda"/>
              </a:defRPr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●"/>
              <a:defRPr>
                <a:latin typeface="Coda"/>
                <a:ea typeface="Coda"/>
                <a:cs typeface="Coda"/>
                <a:sym typeface="Coda"/>
              </a:defRPr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○"/>
              <a:defRPr>
                <a:latin typeface="Coda"/>
                <a:ea typeface="Coda"/>
                <a:cs typeface="Coda"/>
                <a:sym typeface="Coda"/>
              </a:defRPr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■"/>
              <a:defRPr>
                <a:latin typeface="Coda"/>
                <a:ea typeface="Coda"/>
                <a:cs typeface="Coda"/>
                <a:sym typeface="Coda"/>
              </a:defRPr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●"/>
              <a:defRPr>
                <a:latin typeface="Coda"/>
                <a:ea typeface="Coda"/>
                <a:cs typeface="Coda"/>
                <a:sym typeface="Coda"/>
              </a:defRPr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○"/>
              <a:defRPr>
                <a:latin typeface="Coda"/>
                <a:ea typeface="Coda"/>
                <a:cs typeface="Coda"/>
                <a:sym typeface="Coda"/>
              </a:defRPr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oda"/>
              <a:buChar char="■"/>
              <a:defRPr>
                <a:solidFill>
                  <a:srgbClr val="000000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theme/theme1.xml" Type="http://schemas.openxmlformats.org/officeDocument/2006/relationships/theme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Secular One"/>
              <a:buNone/>
              <a:defRPr b="1" sz="2500">
                <a:latin typeface="Secular One"/>
                <a:ea typeface="Secular One"/>
                <a:cs typeface="Secular One"/>
                <a:sym typeface="Secular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921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Helvetica Neue Light"/>
              <a:buChar char="○"/>
              <a:defRPr sz="10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921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Helvetica Neue Light"/>
              <a:buChar char="■"/>
              <a:defRPr sz="10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400"/>
              <a:buFont typeface="Helvetica Neue Light"/>
              <a:buChar char="■"/>
              <a:defRPr>
                <a:solidFill>
                  <a:srgbClr val="66666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427350" y="4461775"/>
            <a:ext cx="1354200" cy="4983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algn="r" lvl="1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algn="r" lvl="2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algn="r" lvl="3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algn="r" lvl="4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algn="r" lvl="5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algn="r" lvl="6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algn="r" lvl="7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algn="r" lvl="8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MOT17 Eksperimenti Praćenja Objekata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Usporedna Analiza Sustava za Praćenje i Modela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1: Norfair (Osnovni)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experiment_20260107_182443.txt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Norfair * </a:t>
            </a:r>
            <a:r>
              <a:rPr b="1"/>
              <a:t>Hiperparametri:</a:t>
            </a:r>
            <a:r>
              <a:rPr/>
              <a:t> * Prag pouzdanosti: 0.4 * Prag udaljenosti: 30 * Hit Inertia: 3 (min) - 6 (max)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26.7%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35.7%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21.4%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22.3%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2: Norfair (Fino podešen)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experiment_trained_20260108_101135.txt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(Fino podešen na MOT17) * </a:t>
            </a:r>
            <a:r>
              <a:rPr b="1"/>
              <a:t>Sustav za praćenje:</a:t>
            </a:r>
            <a:r>
              <a:rPr/>
              <a:t> Norfair * </a:t>
            </a:r>
            <a:r>
              <a:rPr b="1"/>
              <a:t>Hiperparametri:</a:t>
            </a:r>
            <a:r>
              <a:rPr/>
              <a:t> * Prag pouzdanosti: 0.4 * Prag udaljenosti: 30 * Hit Inertia: 3 (min) - 6 (max)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26.1%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27.1%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14.5%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17.4%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3: OC-SORT (Osnovni)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experiment_ocsort_20260108_114515.txt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(Vlastita implementacija) * </a:t>
            </a:r>
            <a:r>
              <a:rPr b="1"/>
              <a:t>Hiperparametri:</a:t>
            </a:r>
            <a:r>
              <a:rPr/>
              <a:t> * IoU Prag: 0.3 * Maksimalna starost: 30 * Minimalni pogodci: 3 * Inercija: 0.2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31.6%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28.1%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37.0%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22.3%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4: OC-SORT (Fino podešen)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experiment_trained_ocsort_20260108_133020.txt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(Fino podešen na MOT17) * </a:t>
            </a:r>
            <a:r>
              <a:rPr b="1"/>
              <a:t>Sustav za praćenje:</a:t>
            </a:r>
            <a:r>
              <a:rPr/>
              <a:t> OC-SORT (Vlastita implementacija) * </a:t>
            </a:r>
            <a:r>
              <a:rPr b="1"/>
              <a:t>Hiperparametri:</a:t>
            </a:r>
            <a:r>
              <a:rPr/>
              <a:t> * IoU Prag: 0.3 * Maksimalna starost: 30 * Minimalni pogodci: 3 * Inercija: 0.2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31.9%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33.1%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18.8%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5: SAM2 + OC-SORT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experiment_sam2_ocsort_20260109_191300.txt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Detektor:</a:t>
            </a:r>
            <a:r>
              <a:rPr/>
              <a:t> SAM2 (Automatski generator maski) * </a:t>
            </a:r>
            <a:r>
              <a:rPr b="1"/>
              <a:t>Sustav za praćenje:</a:t>
            </a:r>
            <a:r>
              <a:rPr/>
              <a:t> OC-SORT * </a:t>
            </a:r>
            <a:r>
              <a:rPr b="1"/>
              <a:t>Napomena:</a:t>
            </a:r>
            <a:r>
              <a:rPr/>
              <a:t> Zero-shot segmentacija korištena za detekciju.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16.8%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-46.2%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-30.6%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-71.1%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6: OC-SORT (Optimiziran)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experiment_ocsort_20260113_115533.txt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* </a:t>
            </a:r>
            <a:r>
              <a:rPr b="1"/>
              <a:t>Hiperparametri:</a:t>
            </a:r>
            <a:r>
              <a:rPr/>
              <a:t> * Prag pouzdanosti: 0.25 * Veličina inferencije: 1280 * Maksimalna starost: 30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43.5%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38.5%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51.3%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35.8%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29.9%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7: OC-SORT + ByteTrack (Visoka pouzdanost)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experiment_ocsort_bytetrack_20260113_124033.txt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+ ByteTrack logika * </a:t>
            </a:r>
            <a:r>
              <a:rPr b="1"/>
              <a:t>Hiperparametri:</a:t>
            </a:r>
            <a:r>
              <a:rPr/>
              <a:t> * Prag pouzdanosti (Visoki): 0.6 * Prag pouzdanosti (Niski): 0.1 * Veličina inferencije: 1280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45.4%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41.5%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51.4%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34.6%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8: OC-SORT + ByteTrack (Srednja pouzdanost)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experiment_ocsort_bytetrack_20260113_125154.txt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+ ByteTrack logika * </a:t>
            </a:r>
            <a:r>
              <a:rPr b="1"/>
              <a:t>Hiperparametri:</a:t>
            </a:r>
            <a:r>
              <a:rPr/>
              <a:t> * Prag pouzdanosti (Visoki): 0.4 * Prag pouzdanosti (Niski): 0.1 * Veličina inferencije: 1280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45.6%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36.1%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9: OC-SORT + ByteTrack (Niska pouzdanost)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experiment_ocsort_bytetrack_20260113_130316.txt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+ ByteTrack logika * </a:t>
            </a:r>
            <a:r>
              <a:rPr b="1"/>
              <a:t>Hiperparametri:</a:t>
            </a:r>
            <a:r>
              <a:rPr/>
              <a:t> * Prag pouzdanosti (Visoki): 0.4 * Prag pouzdanosti (Niski): 0.05 * Maksimalna starost: 60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46.3%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42.0%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36.1%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10: OC-SORT + Byte + Interp (YOLOv11x)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experiment_ocsort_bytetrack_interp_20260113_135953.txt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Interpolacija * </a:t>
            </a:r>
            <a:r>
              <a:rPr b="1"/>
              <a:t>Hiperparametri:</a:t>
            </a:r>
            <a:r>
              <a:rPr/>
              <a:t> * Prag pouzdanosti (Visoki): 0.4 * Naknadna obrada: Linearna interpolacija (razmak=20)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48.5%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42.7%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57.5%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11: OC-SORT + Byte + Interp + CMC (YOLOv11x)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experiment_ocsort_bytetrack_interp_cmc_20260113_152122.txt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Interpolacija + CMC * </a:t>
            </a:r>
            <a:r>
              <a:rPr b="1"/>
              <a:t>Hiperparametri:</a:t>
            </a:r>
            <a:r>
              <a:rPr/>
              <a:t> * CMC: Optički tok (Afini) * Prag pouzdanosti (Visoki): 0.5 * Veličina inferencije: 1280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51.7%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43.6%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64.1%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40.4%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55.0%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12: OC-SORT + Byte + Interp + CMC (Fino podešen)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experiment_trained_best_20260113_170416.txt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(Fino podešen) * </a:t>
            </a:r>
            <a:r>
              <a:rPr b="1"/>
              <a:t>Sustav za praćenje:</a:t>
            </a:r>
            <a:r>
              <a:rPr/>
              <a:t> OC-SORT + ByteTrack + Interpolacija + CMC * </a:t>
            </a:r>
            <a:r>
              <a:rPr b="1"/>
              <a:t>Hiperparametri:</a:t>
            </a:r>
            <a:r>
              <a:rPr/>
              <a:t> * CMC: Optički tok (Afini) * Prag pouzdanosti: 0.5 * Maksimalna starost: 60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36.8%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35.2%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39.2%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17.3%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Minim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MOT17 Eksperimenti Praćenja Objekata</dc:title>
  <dc:creator/>
  <cp:keywords/>
  <dcterms:created xsi:type="dcterms:W3CDTF">2026-01-15T15:14:40Z</dcterms:created>
  <dcterms:modified xsi:type="dcterms:W3CDTF">2026-01-15T15:14:40Z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Usporedna Analiza Sustava za Praćenje i Modela</vt:lpwstr>
  </property>
</Properties>
</file>